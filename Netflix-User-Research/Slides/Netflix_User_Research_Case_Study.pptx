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Usage Frequency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Usage Frequency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50914"/>
              </a:solidFill>
              <a:effectLst/>
            </c:spPr>
          </c:dPt>
          <c:dPt>
            <c:idx val="1"/>
            <c:bubble3D val="0"/>
            <c:spPr>
              <a:solidFill>
                <a:srgbClr val="141414"/>
              </a:solidFill>
              <a:effectLst/>
            </c:spPr>
          </c:dPt>
          <c:dPt>
            <c:idx val="2"/>
            <c:bubble3D val="0"/>
            <c:spPr>
              <a:solidFill>
                <a:srgbClr val="9A9A9A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Daily</c:v>
                </c:pt>
                <c:pt idx="1">
                  <c:v>Weekly</c:v>
                </c:pt>
                <c:pt idx="2">
                  <c:v>Occasional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4</c:v>
                </c:pt>
                <c:pt idx="1">
                  <c:v>3</c:v>
                </c:pt>
                <c:pt idx="2">
                  <c:v>1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Primary Device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Primary Device</c:v>
                </c:pt>
              </c:strCache>
            </c:strRef>
          </c:tx>
          <c:spPr>
            <a:solidFill>
              <a:srgbClr val="E509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Mobile</c:v>
                  </c:pt>
                  <c:pt idx="1">
                    <c:v>Smart TV</c:v>
                  </c:pt>
                  <c:pt idx="2">
                    <c:v>Laptop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</c:v>
                </c:pt>
                <c:pt idx="1">
                  <c:v>2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8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Calibri"/>
              </a:rPr>
              <a:t>Rec. Satisfaction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Recommendation Satisfaction (1-5)</c:v>
                </c:pt>
              </c:strCache>
            </c:strRef>
          </c:tx>
          <c:spPr>
            <a:solidFill>
              <a:srgbClr val="14141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U01</c:v>
                  </c:pt>
                  <c:pt idx="1">
                    <c:v>U02</c:v>
                  </c:pt>
                  <c:pt idx="2">
                    <c:v>U03</c:v>
                  </c:pt>
                  <c:pt idx="3">
                    <c:v>U04</c:v>
                  </c:pt>
                  <c:pt idx="4">
                    <c:v>U05</c:v>
                  </c:pt>
                  <c:pt idx="5">
                    <c:v>U06</c:v>
                  </c:pt>
                  <c:pt idx="6">
                    <c:v>U07</c:v>
                  </c:pt>
                  <c:pt idx="7">
                    <c:v>U08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3</c:v>
                </c:pt>
                <c:pt idx="2">
                  <c:v>2</c:v>
                </c:pt>
                <c:pt idx="3">
                  <c:v>4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</c:scaling>
        <c:delete val="0"/>
        <c:axPos val="l"/>
        <c:majorGridlines>
          <c:spPr>
            <a:ln w="12700" cap="flat">
              <a:solidFill>
                <a:srgbClr val="E8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333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640080" y="24688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RESEARCH &amp; CUSTOMER PERSONA CASE STUDY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283464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Netflix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how users discover, decide, and watch on Netflix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64008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[Your Name] · MCA · Centurion University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App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96596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Netflix — Video Streaming Application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103327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is a global subscription video-streaming service offering films, series, documentaries, and anime across devices. It was selected as the target app for this study because its huge, constantly-growing catalog makes content discovery a central, high-stakes part of the user experience — small friction in “what to watch” directly affects satisfaction and retention.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4023360"/>
            <a:ext cx="3291840" cy="1691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190+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4983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served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34840" y="4023360"/>
            <a:ext cx="3291840" cy="1691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443484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Multiple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617720" y="4983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Devices: mobile, laptop, Smart TV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55280" y="4023360"/>
            <a:ext cx="3291840" cy="169164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955280" y="42062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1000s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138160" y="498348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Titles in the library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011680"/>
            <a:ext cx="10332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understand how users discover, select, watch, and manage content on Netflix, and identify pain points related to content discovery, recommendations, pricing, interface, and viewing experience.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RESEARCH AREAS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discovery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43400" y="3886200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system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3886200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83880" y="38862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experience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4453128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4453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4453128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4453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/ pricing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4453128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4453128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usage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5020056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0200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43400" y="5020056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0560" y="50200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profiles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8046720" y="5020056"/>
            <a:ext cx="352044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83880" y="5020056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satisfaction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50292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8288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0" y="18288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10908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0" y="23317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18–35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834640"/>
            <a:ext cx="10908792" cy="502920"/>
          </a:xfrm>
          <a:prstGeom prst="rect">
            <a:avLst/>
          </a:prstGeom>
          <a:solidFill>
            <a:srgbClr val="FBFBFA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8346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subscribers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10908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3375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0" y="33375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Smartphone, laptop, Smart TV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840480"/>
            <a:ext cx="10908792" cy="502920"/>
          </a:xfrm>
          <a:prstGeom prst="rect">
            <a:avLst/>
          </a:prstGeom>
          <a:solidFill>
            <a:srgbClr val="FBFBFA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0" y="384048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/ occasional streaming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4343400"/>
            <a:ext cx="10908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34340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86400" y="43434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846320"/>
            <a:ext cx="10908792" cy="502920"/>
          </a:xfrm>
          <a:prstGeom prst="rect">
            <a:avLst/>
          </a:prstGeom>
          <a:solidFill>
            <a:srgbClr val="FBFBFA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46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Size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0" y="484632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users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5349240"/>
            <a:ext cx="10908792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3492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0" y="534924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interviews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5852160"/>
            <a:ext cx="10908792" cy="502920"/>
          </a:xfrm>
          <a:prstGeom prst="rect">
            <a:avLst/>
          </a:prstGeom>
          <a:solidFill>
            <a:srgbClr val="FBFBFA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58521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585216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10–15 minutes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Research Methodology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178308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74320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8–12 Users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2331720" y="27432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697480" y="2743200"/>
            <a:ext cx="178308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8" name="Text 6"/>
          <p:cNvSpPr/>
          <p:nvPr/>
        </p:nvSpPr>
        <p:spPr>
          <a:xfrm>
            <a:off x="2770632" y="274320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480560" y="27432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846320" y="2743200"/>
            <a:ext cx="178308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4919472" y="274320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629400" y="27432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995160" y="2743200"/>
            <a:ext cx="1783080" cy="128016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7068312" y="274320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Empathy Maps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778240" y="2743200"/>
            <a:ext cx="365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144000" y="2743200"/>
            <a:ext cx="1783080" cy="128016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/>
          <p:nvPr/>
        </p:nvSpPr>
        <p:spPr>
          <a:xfrm>
            <a:off x="9217152" y="2743200"/>
            <a:ext cx="1636776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0080" y="4480560"/>
            <a:ext cx="10881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pipeline: recruit real Netflix users within the target parameters, run the semi-structured interview script, synthesize recurring patterns, map empathy per user type, then formalize into personas that guide design decisions.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Interview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52044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28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USAGE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often do you use Netflix?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device do you primarily use?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long to decide what to watch?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82880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828800"/>
            <a:ext cx="352044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1828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DISCOVERY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0" y="251460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find something new?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recommendations match your interests?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use search? How useful is it?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46720" y="182880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46720" y="1828800"/>
            <a:ext cx="3520440" cy="4572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0" y="182880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PRICING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75320" y="2514600"/>
            <a:ext cx="3063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frustrates you most?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you use My List / Watchlist?</a:t>
            </a:r>
            <a:endParaRPr lang="en-US" sz="1300" dirty="0"/>
          </a:p>
          <a:p>
            <a:pPr marL="342900" indent="-342900">
              <a:lnSpc>
                <a:spcPct val="130000"/>
              </a:lnSpc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feel about pricing?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Research Results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8 example interview entries (see Interview_Data.xlsx) — replace with your real results</a:t>
            </a:r>
            <a:endParaRPr lang="en-US" sz="11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1874520"/>
          <a:ext cx="342900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4251960" y="1874520"/>
          <a:ext cx="35204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2" descr=""/>
          <p:cNvGraphicFramePr/>
          <p:nvPr/>
        </p:nvGraphicFramePr>
        <p:xfrm>
          <a:off x="8001000" y="1874520"/>
          <a:ext cx="356616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Shape 3"/>
          <p:cNvSpPr/>
          <p:nvPr/>
        </p:nvSpPr>
        <p:spPr>
          <a:xfrm>
            <a:off x="640080" y="4937760"/>
            <a:ext cx="10908792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914400" y="4937760"/>
            <a:ext cx="103327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recommendation satisfaction: 3.1 / 5 — room to improve personalization trust across all usage segments.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Key Research Findings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9087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89280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9280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Overload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83480" y="185623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huge library makes decision-making overwhelming.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2651760"/>
            <a:ext cx="109087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276148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76148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272491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Fatigue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83480" y="272491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repeat similar titles, eroding trust.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520440"/>
            <a:ext cx="109087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363016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6301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359359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Takes Time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359359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scroll several minutes before selecting something.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" y="4389120"/>
            <a:ext cx="109087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449884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449884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446227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Could Be More Flexible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83480" y="446227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mood, language, actor &amp; duration filters.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257800"/>
            <a:ext cx="1090879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68680" y="5367528"/>
            <a:ext cx="512064" cy="512064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536752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00200" y="5330952"/>
            <a:ext cx="3291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Matters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983480" y="5330952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cost influences usage and retention decisions.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Empathy Map — The Binge Watcher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spend more time deciding what to watch than actually watching.”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spend more time deciding what to watch than actually watching.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too many options.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Netflix to understand my taste.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want to watch trailers for everything.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6908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69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Scrolls through recommendations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ratings, searches for actors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shows to My List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multiple episodes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406908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06908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069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Excited discovering a good show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by irrelevant recommendations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Overwhelmed by too many choices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Empathy Map — The Casual Viewer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only watch Netflix when I have free time.”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87452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only watch Netflix when I have free time.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87452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87452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37744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want something easy to watch.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don't want to spend 20 minutes searching.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06908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06908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4069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68680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popular content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occasionally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recommendations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Watches movies rather than long series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4069080"/>
            <a:ext cx="5285232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4069080"/>
            <a:ext cx="5285232" cy="384048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9" name="Text 17"/>
          <p:cNvSpPr/>
          <p:nvPr/>
        </p:nvSpPr>
        <p:spPr>
          <a:xfrm>
            <a:off x="6446520" y="4069080"/>
            <a:ext cx="4937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572000"/>
            <a:ext cx="4846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Relaxed when watching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Frustrated when nothing interests them</a:t>
            </a:r>
            <a:endParaRPr lang="en-US" sz="12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2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Satisfied when recommendations are accurate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User Personas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3520440" cy="13716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Shape 4"/>
          <p:cNvSpPr/>
          <p:nvPr/>
        </p:nvSpPr>
        <p:spPr>
          <a:xfrm>
            <a:off x="1943100" y="201168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194310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97180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Rahul — Binge Watcher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· Student · Daily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22960" y="3657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39502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many choices, repetitive recommendations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51846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recs, mood-based discovery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343400" y="182880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43400" y="1828800"/>
            <a:ext cx="3520440" cy="13716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6" name="Shape 14"/>
          <p:cNvSpPr/>
          <p:nvPr/>
        </p:nvSpPr>
        <p:spPr>
          <a:xfrm>
            <a:off x="5646420" y="201168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17" name="Text 15"/>
          <p:cNvSpPr/>
          <p:nvPr/>
        </p:nvSpPr>
        <p:spPr>
          <a:xfrm>
            <a:off x="564642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PC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480560" y="297180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 — Casual Viewer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480560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· Working Professional · 2-3x/week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26280" y="3657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526280" y="39502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time, unsure if a movie is worth it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26280" y="4892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526280" y="51846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“Watch in 10 min” recs, better ratings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046720" y="1828800"/>
            <a:ext cx="35204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0" y="1828800"/>
            <a:ext cx="3520440" cy="13716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26" name="Shape 24"/>
          <p:cNvSpPr/>
          <p:nvPr/>
        </p:nvSpPr>
        <p:spPr>
          <a:xfrm>
            <a:off x="9349740" y="2011680"/>
            <a:ext cx="914400" cy="914400"/>
          </a:xfrm>
          <a:prstGeom prst="ellipse">
            <a:avLst/>
          </a:prstGeom>
          <a:solidFill>
            <a:srgbClr val="E50914"/>
          </a:solidFill>
          <a:ln/>
        </p:spPr>
      </p:sp>
      <p:sp>
        <p:nvSpPr>
          <p:cNvPr id="27" name="Text 25"/>
          <p:cNvSpPr/>
          <p:nvPr/>
        </p:nvSpPr>
        <p:spPr>
          <a:xfrm>
            <a:off x="9349740" y="201168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AE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83880" y="2971800"/>
            <a:ext cx="3246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Arjun — Explorer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183880" y="3200400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· Student · 3-4x/week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229600" y="365760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 POINT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0" y="3950208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feels broad, hard to find niche content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229600" y="4892040"/>
            <a:ext cx="3154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229600" y="5184648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search, language &amp; genre filters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Pain Points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651760"/>
            <a:ext cx="2011680" cy="2286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Choice Overload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2907792" y="2651760"/>
            <a:ext cx="2011680" cy="2286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7" name="Text 5"/>
          <p:cNvSpPr/>
          <p:nvPr/>
        </p:nvSpPr>
        <p:spPr>
          <a:xfrm>
            <a:off x="3044952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Discovery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175504" y="2651760"/>
            <a:ext cx="2011680" cy="2286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9" name="Text 7"/>
          <p:cNvSpPr/>
          <p:nvPr/>
        </p:nvSpPr>
        <p:spPr>
          <a:xfrm>
            <a:off x="5312664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Recommendations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443216" y="2651760"/>
            <a:ext cx="2011680" cy="2286000"/>
          </a:xfrm>
          <a:prstGeom prst="rect">
            <a:avLst/>
          </a:prstGeom>
          <a:solidFill>
            <a:srgbClr val="E50914"/>
          </a:solidFill>
          <a:ln/>
        </p:spPr>
      </p:sp>
      <p:sp>
        <p:nvSpPr>
          <p:cNvPr id="11" name="Text 9"/>
          <p:cNvSpPr/>
          <p:nvPr/>
        </p:nvSpPr>
        <p:spPr>
          <a:xfrm>
            <a:off x="7580376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Time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710928" y="2651760"/>
            <a:ext cx="2011680" cy="228600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848088" y="2651760"/>
            <a:ext cx="17373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Difficulty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4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Problem Statements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828800"/>
            <a:ext cx="1280160" cy="1325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28800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148840" y="1828800"/>
            <a:ext cx="9144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users need a faster way to discover relevant content because the large content library can make decision-making overwhelming.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337560"/>
            <a:ext cx="109087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337560"/>
            <a:ext cx="1280160" cy="1325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3337560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148840" y="3337560"/>
            <a:ext cx="9144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viewers need quick, personalized recommendations because they have limited time and don't want to spend several minutes browsing.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4846320"/>
            <a:ext cx="10908792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8E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" y="4846320"/>
            <a:ext cx="1280160" cy="1325880"/>
          </a:xfrm>
          <a:prstGeom prst="rect">
            <a:avLst/>
          </a:prstGeom>
          <a:solidFill>
            <a:srgbClr val="14141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846320"/>
            <a:ext cx="128016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148840" y="4846320"/>
            <a:ext cx="914400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who enjoy discovering new genres need better search and filtering options because standard categories may not always help them find niche content.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User Research Case Study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091672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50914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9144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Opportunity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Netflix SmartPick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205740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personalized discovery system that helps users decide what to watch quickly.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834640"/>
            <a:ext cx="2560320" cy="26517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77240" y="4114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· Relaxing · Exciting · Emotional · Scary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2834640"/>
            <a:ext cx="2560320" cy="26517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1" name="Text 9"/>
          <p:cNvSpPr/>
          <p:nvPr/>
        </p:nvSpPr>
        <p:spPr>
          <a:xfrm>
            <a:off x="3401568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538728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Available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538728" y="4114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10–30 min · 30–60 min · 1–2 hrs · Multiple episodes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63056" y="2834640"/>
            <a:ext cx="2560320" cy="26517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5" name="Text 13"/>
          <p:cNvSpPr/>
          <p:nvPr/>
        </p:nvSpPr>
        <p:spPr>
          <a:xfrm>
            <a:off x="6163056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300216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300216" y="4114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Movie · Series · Documentary · Anime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24544" y="2834640"/>
            <a:ext cx="2560320" cy="2651760"/>
          </a:xfrm>
          <a:prstGeom prst="rect">
            <a:avLst/>
          </a:prstGeom>
          <a:solidFill>
            <a:srgbClr val="1F1F1F"/>
          </a:solidFill>
          <a:ln/>
        </p:spPr>
      </p:sp>
      <p:sp>
        <p:nvSpPr>
          <p:cNvPr id="19" name="Text 17"/>
          <p:cNvSpPr/>
          <p:nvPr/>
        </p:nvSpPr>
        <p:spPr>
          <a:xfrm>
            <a:off x="8924544" y="3063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🌎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061704" y="37033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509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061704" y="4114800"/>
            <a:ext cx="2286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9C9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· Hindi · Korean · Spanish · etc.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 generates a small number of personalized recommendations from these inputs — replacing endless rows with a confident, quick pick.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2026-08-16T06:06:09Z</dcterms:created>
  <dcterms:modified xsi:type="dcterms:W3CDTF">2026-08-16T06:06:09Z</dcterms:modified>
</cp:coreProperties>
</file>